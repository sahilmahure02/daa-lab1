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 Bold" charset="1" panose="02000503000000020004"/>
      <p:regular r:id="rId12"/>
    </p:embeddedFont>
    <p:embeddedFont>
      <p:font typeface="Inter" charset="1" panose="02000503000000020004"/>
      <p:regular r:id="rId13"/>
    </p:embeddedFont>
    <p:embeddedFont>
      <p:font typeface="Fira Code" charset="1" panose="020B0809050000020004"/>
      <p:regular r:id="rId14"/>
    </p:embeddedFont>
    <p:embeddedFont>
      <p:font typeface="Fira Code Bold" charset="1" panose="020B0809050000020004"/>
      <p:regular r:id="rId15"/>
    </p:embeddedFont>
    <p:embeddedFont>
      <p:font typeface="Arimo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072188"/>
            <a:ext cx="16459200" cy="14288"/>
            <a:chOff x="0" y="0"/>
            <a:chExt cx="219456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0" y="6722269"/>
            <a:ext cx="2286000" cy="442912"/>
            <a:chOff x="0" y="0"/>
            <a:chExt cx="3048000" cy="590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590550"/>
            </a:xfrm>
            <a:custGeom>
              <a:avLst/>
              <a:gdLst/>
              <a:ahLst/>
              <a:cxnLst/>
              <a:rect r="r" b="b" t="t" l="l"/>
              <a:pathLst>
                <a:path h="590550" w="3048000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2752725" y="0"/>
                  </a:lnTo>
                  <a:cubicBezTo>
                    <a:pt x="2915793" y="0"/>
                    <a:pt x="3048000" y="132207"/>
                    <a:pt x="3048000" y="295275"/>
                  </a:cubicBezTo>
                  <a:cubicBezTo>
                    <a:pt x="3048000" y="458343"/>
                    <a:pt x="2915793" y="590550"/>
                    <a:pt x="2752725" y="590550"/>
                  </a:cubicBezTo>
                  <a:lnTo>
                    <a:pt x="295275" y="590550"/>
                  </a:lnTo>
                  <a:cubicBezTo>
                    <a:pt x="132207" y="590550"/>
                    <a:pt x="0" y="458343"/>
                    <a:pt x="0" y="295275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6657975"/>
            <a:ext cx="571500" cy="571500"/>
            <a:chOff x="0" y="0"/>
            <a:chExt cx="762000" cy="76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057525"/>
            <a:ext cx="300038" cy="342900"/>
            <a:chOff x="0" y="0"/>
            <a:chExt cx="400050" cy="4572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3810000"/>
            <a:ext cx="138579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sz="675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Depth-First Search (DFS)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4972050"/>
            <a:ext cx="8465344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Fundamental Graph Traversal Algorithm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5888" y="3069431"/>
            <a:ext cx="6090047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DESIGN &amp; ANALYSIS OF ALGORITHMS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16200" y="6817519"/>
            <a:ext cx="1971675" cy="261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Graph Algorithms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00088" y="6657975"/>
            <a:ext cx="1000125" cy="571500"/>
            <a:chOff x="0" y="0"/>
            <a:chExt cx="13335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3500" cy="762000"/>
            </a:xfrm>
            <a:custGeom>
              <a:avLst/>
              <a:gdLst/>
              <a:ahLst/>
              <a:cxnLst/>
              <a:rect r="r" b="b" t="t" l="l"/>
              <a:pathLst>
                <a:path h="7620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3335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SM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57350" y="6679406"/>
            <a:ext cx="53491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1F5F9"/>
                </a:solidFill>
                <a:latin typeface="Inter Bold"/>
                <a:ea typeface="Inter Bold"/>
                <a:cs typeface="Inter Bold"/>
                <a:sym typeface="Inter Bold"/>
              </a:rPr>
              <a:t>Presented by: Sahil Mahure    PRN-25070521207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7350" y="6965156"/>
            <a:ext cx="3839766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114550"/>
            <a:ext cx="16459200" cy="1157288"/>
            <a:chOff x="0" y="0"/>
            <a:chExt cx="21945600" cy="1543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43050"/>
            </a:xfrm>
            <a:custGeom>
              <a:avLst/>
              <a:gdLst/>
              <a:ahLst/>
              <a:cxnLst/>
              <a:rect r="r" b="b" t="t" l="l"/>
              <a:pathLst>
                <a:path h="1543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43050"/>
                  </a:lnTo>
                  <a:lnTo>
                    <a:pt x="0" y="1543050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14550"/>
            <a:ext cx="57150" cy="1157288"/>
            <a:chOff x="0" y="0"/>
            <a:chExt cx="76200" cy="1543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1543050"/>
            </a:xfrm>
            <a:custGeom>
              <a:avLst/>
              <a:gdLst/>
              <a:ahLst/>
              <a:cxnLst/>
              <a:rect r="r" b="b" t="t" l="l"/>
              <a:pathLst>
                <a:path h="15430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543050"/>
                  </a:lnTo>
                  <a:lnTo>
                    <a:pt x="0" y="15430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3721894"/>
            <a:ext cx="3914775" cy="2528888"/>
            <a:chOff x="0" y="0"/>
            <a:chExt cx="5219700" cy="3371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19700" cy="3371850"/>
            </a:xfrm>
            <a:custGeom>
              <a:avLst/>
              <a:gdLst/>
              <a:ahLst/>
              <a:cxnLst/>
              <a:rect r="r" b="b" t="t" l="l"/>
              <a:pathLst>
                <a:path h="3371850" w="5219700">
                  <a:moveTo>
                    <a:pt x="0" y="229870"/>
                  </a:moveTo>
                  <a:cubicBezTo>
                    <a:pt x="0" y="102870"/>
                    <a:pt x="102870" y="0"/>
                    <a:pt x="229870" y="0"/>
                  </a:cubicBezTo>
                  <a:lnTo>
                    <a:pt x="4989830" y="0"/>
                  </a:lnTo>
                  <a:cubicBezTo>
                    <a:pt x="5116830" y="0"/>
                    <a:pt x="5219700" y="102870"/>
                    <a:pt x="5219700" y="229870"/>
                  </a:cubicBezTo>
                  <a:lnTo>
                    <a:pt x="5219700" y="3141980"/>
                  </a:lnTo>
                  <a:cubicBezTo>
                    <a:pt x="5219700" y="3268980"/>
                    <a:pt x="5116830" y="3371850"/>
                    <a:pt x="4989830" y="3371850"/>
                  </a:cubicBezTo>
                  <a:lnTo>
                    <a:pt x="229870" y="3371850"/>
                  </a:lnTo>
                  <a:cubicBezTo>
                    <a:pt x="102870" y="3371850"/>
                    <a:pt x="0" y="3268980"/>
                    <a:pt x="0" y="31419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093494" y="3721894"/>
            <a:ext cx="3914775" cy="2528888"/>
            <a:chOff x="0" y="0"/>
            <a:chExt cx="5219700" cy="3371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9700" cy="3371850"/>
            </a:xfrm>
            <a:custGeom>
              <a:avLst/>
              <a:gdLst/>
              <a:ahLst/>
              <a:cxnLst/>
              <a:rect r="r" b="b" t="t" l="l"/>
              <a:pathLst>
                <a:path h="3371850" w="5219700">
                  <a:moveTo>
                    <a:pt x="0" y="229870"/>
                  </a:moveTo>
                  <a:cubicBezTo>
                    <a:pt x="0" y="102870"/>
                    <a:pt x="102870" y="0"/>
                    <a:pt x="229870" y="0"/>
                  </a:cubicBezTo>
                  <a:lnTo>
                    <a:pt x="4989830" y="0"/>
                  </a:lnTo>
                  <a:cubicBezTo>
                    <a:pt x="5116830" y="0"/>
                    <a:pt x="5219700" y="102870"/>
                    <a:pt x="5219700" y="229870"/>
                  </a:cubicBezTo>
                  <a:lnTo>
                    <a:pt x="5219700" y="3141980"/>
                  </a:lnTo>
                  <a:cubicBezTo>
                    <a:pt x="5219700" y="3268980"/>
                    <a:pt x="5116830" y="3371850"/>
                    <a:pt x="4989830" y="3371850"/>
                  </a:cubicBezTo>
                  <a:lnTo>
                    <a:pt x="229870" y="3371850"/>
                  </a:lnTo>
                  <a:cubicBezTo>
                    <a:pt x="102870" y="3371850"/>
                    <a:pt x="0" y="3268980"/>
                    <a:pt x="0" y="31419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279731" y="3721894"/>
            <a:ext cx="3914775" cy="2528888"/>
            <a:chOff x="0" y="0"/>
            <a:chExt cx="5219700" cy="3371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19700" cy="3371850"/>
            </a:xfrm>
            <a:custGeom>
              <a:avLst/>
              <a:gdLst/>
              <a:ahLst/>
              <a:cxnLst/>
              <a:rect r="r" b="b" t="t" l="l"/>
              <a:pathLst>
                <a:path h="3371850" w="5219700">
                  <a:moveTo>
                    <a:pt x="0" y="229870"/>
                  </a:moveTo>
                  <a:cubicBezTo>
                    <a:pt x="0" y="102870"/>
                    <a:pt x="102870" y="0"/>
                    <a:pt x="229870" y="0"/>
                  </a:cubicBezTo>
                  <a:lnTo>
                    <a:pt x="4989830" y="0"/>
                  </a:lnTo>
                  <a:cubicBezTo>
                    <a:pt x="5116830" y="0"/>
                    <a:pt x="5219700" y="102870"/>
                    <a:pt x="5219700" y="229870"/>
                  </a:cubicBezTo>
                  <a:lnTo>
                    <a:pt x="5219700" y="3141980"/>
                  </a:lnTo>
                  <a:cubicBezTo>
                    <a:pt x="5219700" y="3268980"/>
                    <a:pt x="5116830" y="3371850"/>
                    <a:pt x="4989830" y="3371850"/>
                  </a:cubicBezTo>
                  <a:lnTo>
                    <a:pt x="229870" y="3371850"/>
                  </a:lnTo>
                  <a:cubicBezTo>
                    <a:pt x="102870" y="3371850"/>
                    <a:pt x="0" y="3268980"/>
                    <a:pt x="0" y="31419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65969" y="3721894"/>
            <a:ext cx="3914775" cy="2528888"/>
            <a:chOff x="0" y="0"/>
            <a:chExt cx="5219700" cy="33718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9700" cy="3371850"/>
            </a:xfrm>
            <a:custGeom>
              <a:avLst/>
              <a:gdLst/>
              <a:ahLst/>
              <a:cxnLst/>
              <a:rect r="r" b="b" t="t" l="l"/>
              <a:pathLst>
                <a:path h="3371850" w="5219700">
                  <a:moveTo>
                    <a:pt x="0" y="229870"/>
                  </a:moveTo>
                  <a:cubicBezTo>
                    <a:pt x="0" y="102870"/>
                    <a:pt x="102870" y="0"/>
                    <a:pt x="229870" y="0"/>
                  </a:cubicBezTo>
                  <a:lnTo>
                    <a:pt x="4989830" y="0"/>
                  </a:lnTo>
                  <a:cubicBezTo>
                    <a:pt x="5116830" y="0"/>
                    <a:pt x="5219700" y="102870"/>
                    <a:pt x="5219700" y="229870"/>
                  </a:cubicBezTo>
                  <a:lnTo>
                    <a:pt x="5219700" y="3141980"/>
                  </a:lnTo>
                  <a:cubicBezTo>
                    <a:pt x="5219700" y="3268980"/>
                    <a:pt x="5116830" y="3371850"/>
                    <a:pt x="4989830" y="3371850"/>
                  </a:cubicBezTo>
                  <a:lnTo>
                    <a:pt x="229870" y="3371850"/>
                  </a:lnTo>
                  <a:cubicBezTo>
                    <a:pt x="102870" y="3371850"/>
                    <a:pt x="0" y="3268980"/>
                    <a:pt x="0" y="314198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493169"/>
            <a:ext cx="400050" cy="400050"/>
            <a:chOff x="0" y="0"/>
            <a:chExt cx="533400" cy="533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85" r="0" b="-178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71588" y="4086225"/>
            <a:ext cx="385762" cy="342900"/>
            <a:chOff x="0" y="0"/>
            <a:chExt cx="514350" cy="4572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57825" y="4086225"/>
            <a:ext cx="342900" cy="342900"/>
            <a:chOff x="0" y="0"/>
            <a:chExt cx="457200" cy="4572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83" t="0" r="-2083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44062" y="4086225"/>
            <a:ext cx="385762" cy="342900"/>
            <a:chOff x="0" y="0"/>
            <a:chExt cx="514350" cy="4572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830300" y="4086225"/>
            <a:ext cx="300038" cy="342900"/>
            <a:chOff x="0" y="0"/>
            <a:chExt cx="400050" cy="4572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80" t="0" r="-238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3732369" y="6435361"/>
            <a:ext cx="4220308" cy="4114800"/>
          </a:xfrm>
          <a:custGeom>
            <a:avLst/>
            <a:gdLst/>
            <a:ahLst/>
            <a:cxnLst/>
            <a:rect r="r" b="b" t="t" l="l"/>
            <a:pathLst>
              <a:path h="4114800" w="4220308">
                <a:moveTo>
                  <a:pt x="0" y="0"/>
                </a:moveTo>
                <a:lnTo>
                  <a:pt x="4220307" y="0"/>
                </a:lnTo>
                <a:lnTo>
                  <a:pt x="42203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14400" y="685800"/>
            <a:ext cx="1660207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Inter Bold"/>
                <a:ea typeface="Inter Bold"/>
                <a:cs typeface="Inter Bold"/>
                <a:sym typeface="Inter Bold"/>
              </a:rPr>
              <a:t>01. Foundation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1028700"/>
            <a:ext cx="173736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Introduction to DFS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00250" y="2400300"/>
            <a:ext cx="521493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369A1"/>
                </a:solidFill>
                <a:latin typeface="Inter Bold"/>
                <a:ea typeface="Inter Bold"/>
                <a:cs typeface="Inter Bold"/>
                <a:sym typeface="Inter Bold"/>
              </a:rPr>
              <a:t>CORE MECHANICS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0250" y="2633663"/>
            <a:ext cx="521493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C4A6E"/>
                </a:solidFill>
                <a:latin typeface="Inter Bold"/>
                <a:ea typeface="Inter Bold"/>
                <a:cs typeface="Inter Bold"/>
                <a:sym typeface="Inter Bold"/>
              </a:rPr>
              <a:t>Go deep first, then backtrack.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1588" y="4648200"/>
            <a:ext cx="418177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Graph Traversal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1588" y="5072062"/>
            <a:ext cx="3328988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Visits all vertices in a structured graph or tree data structure.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57825" y="4648200"/>
            <a:ext cx="418177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Deep Exploration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457825" y="5072062"/>
            <a:ext cx="3328988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Explores a complete path down to leaf nodes before backtracking.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44062" y="4648200"/>
            <a:ext cx="418177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Stack / Recursion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44062" y="5072062"/>
            <a:ext cx="3328988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Implemented using implicit call recursion or explicit Stack frame.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30300" y="4648200"/>
            <a:ext cx="418177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Graph Versatility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30300" y="5072062"/>
            <a:ext cx="3328988" cy="8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Operates seamlessly on directed and undirected graph structures.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3171825"/>
            <a:ext cx="7743825" cy="842962"/>
            <a:chOff x="0" y="0"/>
            <a:chExt cx="10325100" cy="1123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251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0325100">
                  <a:moveTo>
                    <a:pt x="0" y="155067"/>
                  </a:moveTo>
                  <a:cubicBezTo>
                    <a:pt x="0" y="69469"/>
                    <a:pt x="69469" y="0"/>
                    <a:pt x="155067" y="0"/>
                  </a:cubicBezTo>
                  <a:lnTo>
                    <a:pt x="10170033" y="0"/>
                  </a:lnTo>
                  <a:cubicBezTo>
                    <a:pt x="10255631" y="0"/>
                    <a:pt x="10325100" y="69469"/>
                    <a:pt x="10325100" y="155067"/>
                  </a:cubicBezTo>
                  <a:lnTo>
                    <a:pt x="10325100" y="968883"/>
                  </a:lnTo>
                  <a:cubicBezTo>
                    <a:pt x="10325100" y="1054481"/>
                    <a:pt x="10255631" y="1123950"/>
                    <a:pt x="10170033" y="1123950"/>
                  </a:cubicBezTo>
                  <a:lnTo>
                    <a:pt x="155067" y="1123950"/>
                  </a:lnTo>
                  <a:cubicBezTo>
                    <a:pt x="69469" y="1123950"/>
                    <a:pt x="0" y="1054481"/>
                    <a:pt x="0" y="96888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4171950"/>
            <a:ext cx="7743825" cy="842962"/>
            <a:chOff x="0" y="0"/>
            <a:chExt cx="10325100" cy="1123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251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0325100">
                  <a:moveTo>
                    <a:pt x="0" y="155067"/>
                  </a:moveTo>
                  <a:cubicBezTo>
                    <a:pt x="0" y="69469"/>
                    <a:pt x="69469" y="0"/>
                    <a:pt x="155067" y="0"/>
                  </a:cubicBezTo>
                  <a:lnTo>
                    <a:pt x="10170033" y="0"/>
                  </a:lnTo>
                  <a:cubicBezTo>
                    <a:pt x="10255631" y="0"/>
                    <a:pt x="10325100" y="69469"/>
                    <a:pt x="10325100" y="155067"/>
                  </a:cubicBezTo>
                  <a:lnTo>
                    <a:pt x="10325100" y="968883"/>
                  </a:lnTo>
                  <a:cubicBezTo>
                    <a:pt x="10325100" y="1054481"/>
                    <a:pt x="10255631" y="1123950"/>
                    <a:pt x="10170033" y="1123950"/>
                  </a:cubicBezTo>
                  <a:lnTo>
                    <a:pt x="155067" y="1123950"/>
                  </a:lnTo>
                  <a:cubicBezTo>
                    <a:pt x="69469" y="1123950"/>
                    <a:pt x="0" y="1054481"/>
                    <a:pt x="0" y="96888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5172075"/>
            <a:ext cx="7743825" cy="842962"/>
            <a:chOff x="0" y="0"/>
            <a:chExt cx="10325100" cy="1123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51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0325100">
                  <a:moveTo>
                    <a:pt x="0" y="155067"/>
                  </a:moveTo>
                  <a:cubicBezTo>
                    <a:pt x="0" y="69469"/>
                    <a:pt x="69469" y="0"/>
                    <a:pt x="155067" y="0"/>
                  </a:cubicBezTo>
                  <a:lnTo>
                    <a:pt x="10170033" y="0"/>
                  </a:lnTo>
                  <a:cubicBezTo>
                    <a:pt x="10255631" y="0"/>
                    <a:pt x="10325100" y="69469"/>
                    <a:pt x="10325100" y="155067"/>
                  </a:cubicBezTo>
                  <a:lnTo>
                    <a:pt x="10325100" y="968883"/>
                  </a:lnTo>
                  <a:cubicBezTo>
                    <a:pt x="10325100" y="1054481"/>
                    <a:pt x="10255631" y="1123950"/>
                    <a:pt x="10170033" y="1123950"/>
                  </a:cubicBezTo>
                  <a:lnTo>
                    <a:pt x="155067" y="1123950"/>
                  </a:lnTo>
                  <a:cubicBezTo>
                    <a:pt x="69469" y="1123950"/>
                    <a:pt x="0" y="1054481"/>
                    <a:pt x="0" y="96888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07256" y="6172200"/>
            <a:ext cx="7743825" cy="842962"/>
            <a:chOff x="0" y="0"/>
            <a:chExt cx="10325100" cy="1123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251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0325100">
                  <a:moveTo>
                    <a:pt x="0" y="155067"/>
                  </a:moveTo>
                  <a:cubicBezTo>
                    <a:pt x="0" y="69469"/>
                    <a:pt x="69469" y="0"/>
                    <a:pt x="155067" y="0"/>
                  </a:cubicBezTo>
                  <a:lnTo>
                    <a:pt x="10170033" y="0"/>
                  </a:lnTo>
                  <a:cubicBezTo>
                    <a:pt x="10255631" y="0"/>
                    <a:pt x="10325100" y="69469"/>
                    <a:pt x="10325100" y="155067"/>
                  </a:cubicBezTo>
                  <a:lnTo>
                    <a:pt x="10325100" y="968883"/>
                  </a:lnTo>
                  <a:cubicBezTo>
                    <a:pt x="10325100" y="1054481"/>
                    <a:pt x="10255631" y="1123950"/>
                    <a:pt x="10170033" y="1123950"/>
                  </a:cubicBezTo>
                  <a:lnTo>
                    <a:pt x="155067" y="1123950"/>
                  </a:lnTo>
                  <a:cubicBezTo>
                    <a:pt x="69469" y="1123950"/>
                    <a:pt x="0" y="1054481"/>
                    <a:pt x="0" y="96888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293769"/>
            <a:ext cx="7729538" cy="1128712"/>
            <a:chOff x="0" y="0"/>
            <a:chExt cx="10306050" cy="1504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06050" cy="1504950"/>
            </a:xfrm>
            <a:custGeom>
              <a:avLst/>
              <a:gdLst/>
              <a:ahLst/>
              <a:cxnLst/>
              <a:rect r="r" b="b" t="t" l="l"/>
              <a:pathLst>
                <a:path h="1504950" w="103060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153650" y="0"/>
                  </a:lnTo>
                  <a:cubicBezTo>
                    <a:pt x="10237851" y="0"/>
                    <a:pt x="10306050" y="68199"/>
                    <a:pt x="10306050" y="152400"/>
                  </a:cubicBezTo>
                  <a:lnTo>
                    <a:pt x="10306050" y="1352550"/>
                  </a:lnTo>
                  <a:cubicBezTo>
                    <a:pt x="10306050" y="1436751"/>
                    <a:pt x="10237851" y="1504950"/>
                    <a:pt x="10153650" y="1504950"/>
                  </a:cubicBezTo>
                  <a:lnTo>
                    <a:pt x="152400" y="1504950"/>
                  </a:lnTo>
                  <a:cubicBezTo>
                    <a:pt x="68199" y="1504950"/>
                    <a:pt x="0" y="1436751"/>
                    <a:pt x="0" y="13525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4438" y="3393281"/>
            <a:ext cx="400050" cy="400050"/>
            <a:chOff x="0" y="0"/>
            <a:chExt cx="533400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4438" y="4393406"/>
            <a:ext cx="400050" cy="400050"/>
            <a:chOff x="0" y="0"/>
            <a:chExt cx="53340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4438" y="5393531"/>
            <a:ext cx="400050" cy="400050"/>
            <a:chOff x="0" y="0"/>
            <a:chExt cx="5334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14438" y="6393656"/>
            <a:ext cx="400050" cy="400050"/>
            <a:chOff x="0" y="0"/>
            <a:chExt cx="533400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58288" y="3086100"/>
            <a:ext cx="8215312" cy="5429250"/>
            <a:chOff x="0" y="0"/>
            <a:chExt cx="10953750" cy="72390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095375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953750">
                  <a:moveTo>
                    <a:pt x="0" y="0"/>
                  </a:moveTo>
                  <a:lnTo>
                    <a:pt x="10953750" y="0"/>
                  </a:lnTo>
                  <a:lnTo>
                    <a:pt x="1095375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01175" y="3328988"/>
            <a:ext cx="7729538" cy="4943475"/>
            <a:chOff x="0" y="0"/>
            <a:chExt cx="10306050" cy="65913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0306050" cy="6591300"/>
            </a:xfrm>
            <a:custGeom>
              <a:avLst/>
              <a:gdLst/>
              <a:ahLst/>
              <a:cxnLst/>
              <a:rect r="r" b="b" t="t" l="l"/>
              <a:pathLst>
                <a:path h="6591300" w="10306050">
                  <a:moveTo>
                    <a:pt x="0" y="0"/>
                  </a:moveTo>
                  <a:lnTo>
                    <a:pt x="10306050" y="0"/>
                  </a:lnTo>
                  <a:lnTo>
                    <a:pt x="10306050" y="6591300"/>
                  </a:lnTo>
                  <a:lnTo>
                    <a:pt x="0" y="659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6" r="0" b="-196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" y="685800"/>
            <a:ext cx="1660207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Inter Bold"/>
                <a:ea typeface="Inter Bold"/>
                <a:cs typeface="Inter Bold"/>
                <a:sym typeface="Inter Bold"/>
              </a:rPr>
              <a:t>02. Process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1028700"/>
            <a:ext cx="173736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Working of DFS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0125" y="3393281"/>
            <a:ext cx="828675" cy="400050"/>
            <a:chOff x="0" y="0"/>
            <a:chExt cx="1104900" cy="533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4900" cy="533400"/>
            </a:xfrm>
            <a:custGeom>
              <a:avLst/>
              <a:gdLst/>
              <a:ahLst/>
              <a:cxnLst/>
              <a:rect r="r" b="b" t="t" l="l"/>
              <a:pathLst>
                <a:path h="53340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39" t="0" r="-1193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1049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843088" y="3457575"/>
            <a:ext cx="2714625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Start at root vertex 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0125" y="4393406"/>
            <a:ext cx="828675" cy="400050"/>
            <a:chOff x="0" y="0"/>
            <a:chExt cx="1104900" cy="533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4900" cy="533400"/>
            </a:xfrm>
            <a:custGeom>
              <a:avLst/>
              <a:gdLst/>
              <a:ahLst/>
              <a:cxnLst/>
              <a:rect r="r" b="b" t="t" l="l"/>
              <a:pathLst>
                <a:path h="53340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39" t="0" r="-1193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1049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843088" y="4457700"/>
            <a:ext cx="392906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Visit B, then move deeper to 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00125" y="5393531"/>
            <a:ext cx="828675" cy="400050"/>
            <a:chOff x="0" y="0"/>
            <a:chExt cx="1104900" cy="533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4900" cy="533400"/>
            </a:xfrm>
            <a:custGeom>
              <a:avLst/>
              <a:gdLst/>
              <a:ahLst/>
              <a:cxnLst/>
              <a:rect r="r" b="b" t="t" l="l"/>
              <a:pathLst>
                <a:path h="53340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39" t="0" r="-1193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1049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843088" y="5457825"/>
            <a:ext cx="5000625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Backtrack to B and explore unvisited 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00125" y="6393656"/>
            <a:ext cx="828675" cy="400050"/>
            <a:chOff x="0" y="0"/>
            <a:chExt cx="1104900" cy="533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04900" cy="533400"/>
            </a:xfrm>
            <a:custGeom>
              <a:avLst/>
              <a:gdLst/>
              <a:ahLst/>
              <a:cxnLst/>
              <a:rect r="r" b="b" t="t" l="l"/>
              <a:pathLst>
                <a:path h="53340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39" t="0" r="-1193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1049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843088" y="6457950"/>
            <a:ext cx="5429250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Backtrack to A, move to C, then explore F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00150" y="7522369"/>
            <a:ext cx="8947547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RESULT TRAVERSAL ORDER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0150" y="7822406"/>
            <a:ext cx="894754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8BDF8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 → B → D → E → C → F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2287" y="1843088"/>
            <a:ext cx="6767632" cy="8058150"/>
            <a:chOff x="0" y="0"/>
            <a:chExt cx="9023509" cy="1074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23573" cy="10744200"/>
            </a:xfrm>
            <a:custGeom>
              <a:avLst/>
              <a:gdLst/>
              <a:ahLst/>
              <a:cxnLst/>
              <a:rect r="r" b="b" t="t" l="l"/>
              <a:pathLst>
                <a:path h="10744200" w="9023573">
                  <a:moveTo>
                    <a:pt x="0" y="228981"/>
                  </a:moveTo>
                  <a:cubicBezTo>
                    <a:pt x="0" y="102489"/>
                    <a:pt x="94028" y="0"/>
                    <a:pt x="210078" y="0"/>
                  </a:cubicBezTo>
                  <a:lnTo>
                    <a:pt x="8813489" y="0"/>
                  </a:lnTo>
                  <a:cubicBezTo>
                    <a:pt x="8929539" y="0"/>
                    <a:pt x="9023573" y="102489"/>
                    <a:pt x="9023573" y="228981"/>
                  </a:cubicBezTo>
                  <a:lnTo>
                    <a:pt x="9023573" y="10515219"/>
                  </a:lnTo>
                  <a:cubicBezTo>
                    <a:pt x="9023573" y="10641711"/>
                    <a:pt x="8929539" y="10744200"/>
                    <a:pt x="8813489" y="10744200"/>
                  </a:cubicBezTo>
                  <a:lnTo>
                    <a:pt x="210078" y="10744200"/>
                  </a:lnTo>
                  <a:cubicBezTo>
                    <a:pt x="94028" y="10744200"/>
                    <a:pt x="0" y="10641711"/>
                    <a:pt x="0" y="1051521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676751" y="1671638"/>
            <a:ext cx="8696849" cy="8043862"/>
            <a:chOff x="0" y="0"/>
            <a:chExt cx="11595798" cy="1072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95862" cy="10725150"/>
            </a:xfrm>
            <a:custGeom>
              <a:avLst/>
              <a:gdLst/>
              <a:ahLst/>
              <a:cxnLst/>
              <a:rect r="r" b="b" t="t" l="l"/>
              <a:pathLst>
                <a:path h="10725150" w="11595862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1367262" y="0"/>
                  </a:lnTo>
                  <a:cubicBezTo>
                    <a:pt x="11493500" y="0"/>
                    <a:pt x="11595862" y="102362"/>
                    <a:pt x="11595862" y="228600"/>
                  </a:cubicBezTo>
                  <a:lnTo>
                    <a:pt x="11595862" y="10496550"/>
                  </a:lnTo>
                  <a:cubicBezTo>
                    <a:pt x="11595862" y="10622788"/>
                    <a:pt x="11493500" y="10725150"/>
                    <a:pt x="11367262" y="10725150"/>
                  </a:cubicBezTo>
                  <a:lnTo>
                    <a:pt x="228600" y="10725150"/>
                  </a:lnTo>
                  <a:cubicBezTo>
                    <a:pt x="102362" y="10725150"/>
                    <a:pt x="0" y="10622788"/>
                    <a:pt x="0" y="104965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1588" y="5043488"/>
            <a:ext cx="128588" cy="214312"/>
            <a:chOff x="0" y="0"/>
            <a:chExt cx="171450" cy="285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71450" cy="285750"/>
            </a:xfrm>
            <a:custGeom>
              <a:avLst/>
              <a:gdLst/>
              <a:ahLst/>
              <a:cxnLst/>
              <a:rect r="r" b="b" t="t" l="l"/>
              <a:pathLst>
                <a:path h="28575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1588" y="5457825"/>
            <a:ext cx="128588" cy="214312"/>
            <a:chOff x="0" y="0"/>
            <a:chExt cx="171450" cy="285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71450" cy="285750"/>
            </a:xfrm>
            <a:custGeom>
              <a:avLst/>
              <a:gdLst/>
              <a:ahLst/>
              <a:cxnLst/>
              <a:rect r="r" b="b" t="t" l="l"/>
              <a:pathLst>
                <a:path h="28575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1588" y="5872162"/>
            <a:ext cx="128588" cy="214312"/>
            <a:chOff x="0" y="0"/>
            <a:chExt cx="171450" cy="2857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71450" cy="285750"/>
            </a:xfrm>
            <a:custGeom>
              <a:avLst/>
              <a:gdLst/>
              <a:ahLst/>
              <a:cxnLst/>
              <a:rect r="r" b="b" t="t" l="l"/>
              <a:pathLst>
                <a:path h="28575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71588" y="6286500"/>
            <a:ext cx="128588" cy="214312"/>
            <a:chOff x="0" y="0"/>
            <a:chExt cx="171450" cy="2857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71450" cy="285750"/>
            </a:xfrm>
            <a:custGeom>
              <a:avLst/>
              <a:gdLst/>
              <a:ahLst/>
              <a:cxnLst/>
              <a:rect r="r" b="b" t="t" l="l"/>
              <a:pathLst>
                <a:path h="28575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71588" y="6700838"/>
            <a:ext cx="128588" cy="214312"/>
            <a:chOff x="0" y="0"/>
            <a:chExt cx="171450" cy="2857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71450" cy="285750"/>
            </a:xfrm>
            <a:custGeom>
              <a:avLst/>
              <a:gdLst/>
              <a:ahLst/>
              <a:cxnLst/>
              <a:rect r="r" b="b" t="t" l="l"/>
              <a:pathLst>
                <a:path h="28575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4400" y="571500"/>
            <a:ext cx="16602075" cy="87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Inter Bold"/>
                <a:ea typeface="Inter Bold"/>
                <a:cs typeface="Inter Bold"/>
                <a:sym typeface="Inter Bold"/>
              </a:rPr>
              <a:t>03. Implementation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876300"/>
            <a:ext cx="17373600" cy="56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Algorithm &amp; C Program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588" y="4469606"/>
            <a:ext cx="872540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Algorithm Logic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62501" y="2438400"/>
            <a:ext cx="8268224" cy="67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<![CDATA[#include int graph[10][10], visited[10], n; void DFS(int v) { int i; visited[v] = 1; printf("%d ", v); for (i = 0; i < n; i++) { if (graph[v][i] && !visited[i]) { DFS(i); } } } int main() { int i, j, start; scanf("%d", &n); for (i = 0; i < n; i++) for (j = 0; j < n; j++) scanf("%d", &graph[i][j]); scanf("%d", &start); DFS(start); return 0; }]]>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4475" y="5007769"/>
            <a:ext cx="80670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Start:</a:t>
            </a:r>
            <a:r>
              <a:rPr lang="en-US" sz="15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Begin at starting vertex.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4475" y="5422106"/>
            <a:ext cx="80670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Mark Visited:</a:t>
            </a:r>
            <a:r>
              <a:rPr lang="en-US" sz="15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Set visited flag array.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4475" y="5836444"/>
            <a:ext cx="80670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Output:</a:t>
            </a:r>
            <a:r>
              <a:rPr lang="en-US" sz="15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Display processed vertex value.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4475" y="6250781"/>
            <a:ext cx="80670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Recurse:</a:t>
            </a:r>
            <a:r>
              <a:rPr lang="en-US" sz="15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Visit adjacent unvisited nodes.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4475" y="6665119"/>
            <a:ext cx="806701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Backtrack:</a:t>
            </a:r>
            <a:r>
              <a:rPr lang="en-US" sz="15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Return when no neighbors left.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62501" y="1957388"/>
            <a:ext cx="192881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dfs_algorithm.c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87725" y="1957388"/>
            <a:ext cx="1428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C Language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2050256"/>
            <a:ext cx="8429625" cy="7558088"/>
            <a:chOff x="0" y="0"/>
            <a:chExt cx="11239500" cy="10077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39500" cy="10077450"/>
            </a:xfrm>
            <a:custGeom>
              <a:avLst/>
              <a:gdLst/>
              <a:ahLst/>
              <a:cxnLst/>
              <a:rect r="r" b="b" t="t" l="l"/>
              <a:pathLst>
                <a:path h="10077450" w="11239500">
                  <a:moveTo>
                    <a:pt x="0" y="228981"/>
                  </a:moveTo>
                  <a:cubicBezTo>
                    <a:pt x="0" y="102489"/>
                    <a:pt x="102489" y="0"/>
                    <a:pt x="228981" y="0"/>
                  </a:cubicBezTo>
                  <a:lnTo>
                    <a:pt x="11010519" y="0"/>
                  </a:lnTo>
                  <a:cubicBezTo>
                    <a:pt x="11137011" y="0"/>
                    <a:pt x="11239500" y="102489"/>
                    <a:pt x="11239500" y="228981"/>
                  </a:cubicBezTo>
                  <a:lnTo>
                    <a:pt x="11239500" y="9848469"/>
                  </a:lnTo>
                  <a:cubicBezTo>
                    <a:pt x="11239500" y="9974961"/>
                    <a:pt x="11137011" y="10077450"/>
                    <a:pt x="11010519" y="10077450"/>
                  </a:cubicBezTo>
                  <a:lnTo>
                    <a:pt x="228981" y="10077450"/>
                  </a:lnTo>
                  <a:cubicBezTo>
                    <a:pt x="102489" y="10077450"/>
                    <a:pt x="0" y="9974961"/>
                    <a:pt x="0" y="984846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779794" y="3886200"/>
            <a:ext cx="7600950" cy="1771650"/>
            <a:chOff x="0" y="0"/>
            <a:chExt cx="10134600" cy="2362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346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10134600">
                  <a:moveTo>
                    <a:pt x="0" y="230505"/>
                  </a:moveTo>
                  <a:cubicBezTo>
                    <a:pt x="0" y="103124"/>
                    <a:pt x="103124" y="0"/>
                    <a:pt x="230505" y="0"/>
                  </a:cubicBezTo>
                  <a:lnTo>
                    <a:pt x="9904095" y="0"/>
                  </a:lnTo>
                  <a:cubicBezTo>
                    <a:pt x="10031476" y="0"/>
                    <a:pt x="10134600" y="103124"/>
                    <a:pt x="10134600" y="230505"/>
                  </a:cubicBezTo>
                  <a:lnTo>
                    <a:pt x="10134600" y="2131695"/>
                  </a:lnTo>
                  <a:cubicBezTo>
                    <a:pt x="10134600" y="2258949"/>
                    <a:pt x="10031476" y="2362200"/>
                    <a:pt x="9904095" y="2362200"/>
                  </a:cubicBezTo>
                  <a:lnTo>
                    <a:pt x="230505" y="2362200"/>
                  </a:lnTo>
                  <a:cubicBezTo>
                    <a:pt x="103124" y="2362200"/>
                    <a:pt x="0" y="2259076"/>
                    <a:pt x="0" y="213169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779794" y="5872162"/>
            <a:ext cx="7600950" cy="1900238"/>
            <a:chOff x="0" y="0"/>
            <a:chExt cx="10134600" cy="2533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34600" cy="2533650"/>
            </a:xfrm>
            <a:custGeom>
              <a:avLst/>
              <a:gdLst/>
              <a:ahLst/>
              <a:cxnLst/>
              <a:rect r="r" b="b" t="t" l="l"/>
              <a:pathLst>
                <a:path h="2533650" w="10134600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9904349" y="0"/>
                  </a:lnTo>
                  <a:cubicBezTo>
                    <a:pt x="10031476" y="0"/>
                    <a:pt x="10134600" y="103124"/>
                    <a:pt x="10134600" y="230251"/>
                  </a:cubicBezTo>
                  <a:lnTo>
                    <a:pt x="10134600" y="2303399"/>
                  </a:lnTo>
                  <a:cubicBezTo>
                    <a:pt x="10134600" y="2430653"/>
                    <a:pt x="10031476" y="2533650"/>
                    <a:pt x="9904349" y="2533650"/>
                  </a:cubicBezTo>
                  <a:lnTo>
                    <a:pt x="230251" y="2533650"/>
                  </a:lnTo>
                  <a:cubicBezTo>
                    <a:pt x="103124" y="2533650"/>
                    <a:pt x="0" y="2430526"/>
                    <a:pt x="0" y="230339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28738" y="4728267"/>
            <a:ext cx="7586662" cy="1902019"/>
            <a:chOff x="0" y="0"/>
            <a:chExt cx="10115550" cy="25360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15550" cy="2536063"/>
            </a:xfrm>
            <a:custGeom>
              <a:avLst/>
              <a:gdLst/>
              <a:ahLst/>
              <a:cxnLst/>
              <a:rect r="r" b="b" t="t" l="l"/>
              <a:pathLst>
                <a:path h="2536063" w="101155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0001250" y="0"/>
                  </a:lnTo>
                  <a:cubicBezTo>
                    <a:pt x="10064369" y="0"/>
                    <a:pt x="10115550" y="51181"/>
                    <a:pt x="10115550" y="114300"/>
                  </a:cubicBezTo>
                  <a:lnTo>
                    <a:pt x="10115550" y="2421763"/>
                  </a:lnTo>
                  <a:cubicBezTo>
                    <a:pt x="10115550" y="2484882"/>
                    <a:pt x="10064369" y="2536063"/>
                    <a:pt x="10001250" y="2536063"/>
                  </a:cubicBezTo>
                  <a:lnTo>
                    <a:pt x="114300" y="2536063"/>
                  </a:lnTo>
                  <a:cubicBezTo>
                    <a:pt x="51181" y="2536063"/>
                    <a:pt x="0" y="2484882"/>
                    <a:pt x="0" y="2421763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28738" y="8543925"/>
            <a:ext cx="7586662" cy="642938"/>
            <a:chOff x="0" y="0"/>
            <a:chExt cx="10115550" cy="857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15550" cy="857250"/>
            </a:xfrm>
            <a:custGeom>
              <a:avLst/>
              <a:gdLst/>
              <a:ahLst/>
              <a:cxnLst/>
              <a:rect r="r" b="b" t="t" l="l"/>
              <a:pathLst>
                <a:path h="857250" w="101155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0001250" y="0"/>
                  </a:lnTo>
                  <a:cubicBezTo>
                    <a:pt x="10064369" y="0"/>
                    <a:pt x="10115550" y="51181"/>
                    <a:pt x="10115550" y="114300"/>
                  </a:cubicBezTo>
                  <a:lnTo>
                    <a:pt x="10115550" y="742950"/>
                  </a:lnTo>
                  <a:cubicBezTo>
                    <a:pt x="10115550" y="806069"/>
                    <a:pt x="10064369" y="857250"/>
                    <a:pt x="10001250" y="857250"/>
                  </a:cubicBezTo>
                  <a:lnTo>
                    <a:pt x="114300" y="857250"/>
                  </a:lnTo>
                  <a:cubicBezTo>
                    <a:pt x="51181" y="857250"/>
                    <a:pt x="0" y="806069"/>
                    <a:pt x="0" y="74295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01500" y="4607719"/>
            <a:ext cx="14288" cy="685800"/>
            <a:chOff x="0" y="0"/>
            <a:chExt cx="1905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" cy="914400"/>
            </a:xfrm>
            <a:custGeom>
              <a:avLst/>
              <a:gdLst/>
              <a:ahLst/>
              <a:cxnLst/>
              <a:rect r="r" b="b" t="t" l="l"/>
              <a:pathLst>
                <a:path h="914400" w="19050">
                  <a:moveTo>
                    <a:pt x="0" y="0"/>
                  </a:moveTo>
                  <a:lnTo>
                    <a:pt x="19050" y="0"/>
                  </a:lnTo>
                  <a:lnTo>
                    <a:pt x="190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787812" y="4257675"/>
            <a:ext cx="228600" cy="228600"/>
            <a:chOff x="0" y="0"/>
            <a:chExt cx="304800" cy="3048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759238" y="6243638"/>
            <a:ext cx="257175" cy="228600"/>
            <a:chOff x="0" y="0"/>
            <a:chExt cx="342900" cy="3048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685800"/>
            <a:ext cx="1660207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Inter Bold"/>
                <a:ea typeface="Inter Bold"/>
                <a:cs typeface="Inter Bold"/>
                <a:sym typeface="Inter Bold"/>
              </a:rPr>
              <a:t>04.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1028700"/>
            <a:ext cx="173736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Execution &amp; Complexity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8738" y="2462213"/>
            <a:ext cx="995749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Sample Execution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8738" y="4413942"/>
            <a:ext cx="948332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INPUT (Adjacency Matrix)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0188" y="5004492"/>
            <a:ext cx="7386638" cy="145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sz="2700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</a:p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0 1 1 0</a:t>
            </a:r>
          </a:p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1 0 0 1</a:t>
            </a:r>
          </a:p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1 0 0 1</a:t>
            </a:r>
          </a:p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0 1 1 0</a:t>
            </a:r>
          </a:p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Start Vertex: 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8738" y="8229600"/>
            <a:ext cx="948332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GENERATED OUTPUT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0188" y="8705850"/>
            <a:ext cx="7386638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0 1 3 2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44125" y="6603206"/>
            <a:ext cx="8143875" cy="51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F172A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O(V)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44125" y="7179469"/>
            <a:ext cx="81438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Auxiliary space required for tracking visited array and call stack recursion.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44125" y="4250531"/>
            <a:ext cx="233957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TIME COMPLEXITY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44125" y="6236494"/>
            <a:ext cx="2518172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SPACE COMPLEXITY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44125" y="4598194"/>
            <a:ext cx="19431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O(V²)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44125" y="5064919"/>
            <a:ext cx="19431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Adjacency Matrix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58688" y="4598194"/>
            <a:ext cx="202882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284C7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O(V + E)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58688" y="5064919"/>
            <a:ext cx="20288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Adjacency List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29250"/>
            <a:ext cx="16459200" cy="942975"/>
            <a:chOff x="0" y="0"/>
            <a:chExt cx="21945600" cy="1257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219456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1717000" y="0"/>
                  </a:lnTo>
                  <a:cubicBezTo>
                    <a:pt x="21843237" y="0"/>
                    <a:pt x="21945600" y="102362"/>
                    <a:pt x="21945600" y="228600"/>
                  </a:cubicBezTo>
                  <a:lnTo>
                    <a:pt x="21945600" y="1028700"/>
                  </a:lnTo>
                  <a:cubicBezTo>
                    <a:pt x="21945600" y="1154938"/>
                    <a:pt x="21843237" y="1257300"/>
                    <a:pt x="21717000" y="1257300"/>
                  </a:cubicBezTo>
                  <a:lnTo>
                    <a:pt x="228600" y="1257300"/>
                  </a:lnTo>
                  <a:cubicBezTo>
                    <a:pt x="102362" y="1257300"/>
                    <a:pt x="0" y="1154938"/>
                    <a:pt x="0" y="10287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2050256"/>
            <a:ext cx="5272088" cy="2928938"/>
            <a:chOff x="0" y="0"/>
            <a:chExt cx="7029450" cy="390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29450" cy="3905250"/>
            </a:xfrm>
            <a:custGeom>
              <a:avLst/>
              <a:gdLst/>
              <a:ahLst/>
              <a:cxnLst/>
              <a:rect r="r" b="b" t="t" l="l"/>
              <a:pathLst>
                <a:path h="3905250" w="7029450">
                  <a:moveTo>
                    <a:pt x="0" y="229743"/>
                  </a:moveTo>
                  <a:cubicBezTo>
                    <a:pt x="0" y="102870"/>
                    <a:pt x="102870" y="0"/>
                    <a:pt x="229743" y="0"/>
                  </a:cubicBezTo>
                  <a:lnTo>
                    <a:pt x="6799707" y="0"/>
                  </a:lnTo>
                  <a:cubicBezTo>
                    <a:pt x="6926580" y="0"/>
                    <a:pt x="7029450" y="102870"/>
                    <a:pt x="7029450" y="229743"/>
                  </a:cubicBezTo>
                  <a:lnTo>
                    <a:pt x="7029450" y="3675507"/>
                  </a:lnTo>
                  <a:cubicBezTo>
                    <a:pt x="7029450" y="3802380"/>
                    <a:pt x="6926580" y="3905250"/>
                    <a:pt x="6799707" y="3905250"/>
                  </a:cubicBezTo>
                  <a:lnTo>
                    <a:pt x="229743" y="3905250"/>
                  </a:lnTo>
                  <a:cubicBezTo>
                    <a:pt x="102870" y="3905250"/>
                    <a:pt x="0" y="3802380"/>
                    <a:pt x="0" y="3675507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507956" y="2050256"/>
            <a:ext cx="5272088" cy="2928938"/>
            <a:chOff x="0" y="0"/>
            <a:chExt cx="7029450" cy="3905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9450" cy="3905250"/>
            </a:xfrm>
            <a:custGeom>
              <a:avLst/>
              <a:gdLst/>
              <a:ahLst/>
              <a:cxnLst/>
              <a:rect r="r" b="b" t="t" l="l"/>
              <a:pathLst>
                <a:path h="3905250" w="7029450">
                  <a:moveTo>
                    <a:pt x="0" y="229743"/>
                  </a:moveTo>
                  <a:cubicBezTo>
                    <a:pt x="0" y="102870"/>
                    <a:pt x="102870" y="0"/>
                    <a:pt x="229743" y="0"/>
                  </a:cubicBezTo>
                  <a:lnTo>
                    <a:pt x="6799707" y="0"/>
                  </a:lnTo>
                  <a:cubicBezTo>
                    <a:pt x="6926580" y="0"/>
                    <a:pt x="7029450" y="102870"/>
                    <a:pt x="7029450" y="229743"/>
                  </a:cubicBezTo>
                  <a:lnTo>
                    <a:pt x="7029450" y="3675507"/>
                  </a:lnTo>
                  <a:cubicBezTo>
                    <a:pt x="7029450" y="3802380"/>
                    <a:pt x="6926580" y="3905250"/>
                    <a:pt x="6799707" y="3905250"/>
                  </a:cubicBezTo>
                  <a:lnTo>
                    <a:pt x="229743" y="3905250"/>
                  </a:lnTo>
                  <a:cubicBezTo>
                    <a:pt x="102870" y="3905250"/>
                    <a:pt x="0" y="3802380"/>
                    <a:pt x="0" y="3675507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08656" y="2050256"/>
            <a:ext cx="5272088" cy="2928938"/>
            <a:chOff x="0" y="0"/>
            <a:chExt cx="7029450" cy="3905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9450" cy="3905250"/>
            </a:xfrm>
            <a:custGeom>
              <a:avLst/>
              <a:gdLst/>
              <a:ahLst/>
              <a:cxnLst/>
              <a:rect r="r" b="b" t="t" l="l"/>
              <a:pathLst>
                <a:path h="3905250" w="7029450">
                  <a:moveTo>
                    <a:pt x="0" y="229743"/>
                  </a:moveTo>
                  <a:cubicBezTo>
                    <a:pt x="0" y="102870"/>
                    <a:pt x="102870" y="0"/>
                    <a:pt x="229743" y="0"/>
                  </a:cubicBezTo>
                  <a:lnTo>
                    <a:pt x="6799707" y="0"/>
                  </a:lnTo>
                  <a:cubicBezTo>
                    <a:pt x="6926580" y="0"/>
                    <a:pt x="7029450" y="102870"/>
                    <a:pt x="7029450" y="229743"/>
                  </a:cubicBezTo>
                  <a:lnTo>
                    <a:pt x="7029450" y="3675507"/>
                  </a:lnTo>
                  <a:cubicBezTo>
                    <a:pt x="7029450" y="3802380"/>
                    <a:pt x="6926580" y="3905250"/>
                    <a:pt x="6799707" y="3905250"/>
                  </a:cubicBezTo>
                  <a:lnTo>
                    <a:pt x="229743" y="3905250"/>
                  </a:lnTo>
                  <a:cubicBezTo>
                    <a:pt x="102870" y="3905250"/>
                    <a:pt x="0" y="3802380"/>
                    <a:pt x="0" y="3675507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71588" y="2443162"/>
            <a:ext cx="257175" cy="257175"/>
            <a:chOff x="0" y="0"/>
            <a:chExt cx="342900" cy="3429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72288" y="2443162"/>
            <a:ext cx="257175" cy="257175"/>
            <a:chOff x="0" y="0"/>
            <a:chExt cx="342900" cy="3429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77" t="0" r="-2777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472988" y="2443162"/>
            <a:ext cx="257175" cy="257175"/>
            <a:chOff x="0" y="0"/>
            <a:chExt cx="342900" cy="3429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77" t="0" r="-277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4400" y="685800"/>
            <a:ext cx="1660207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Inter Bold"/>
                <a:ea typeface="Inter Bold"/>
                <a:cs typeface="Inter Bold"/>
                <a:sym typeface="Inter Bold"/>
              </a:rPr>
              <a:t>05. Applications &amp; Summary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1028700"/>
            <a:ext cx="173736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Applications &amp; Trade-offs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01900" y="5715000"/>
            <a:ext cx="214312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Thank You!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9238" y="2405063"/>
            <a:ext cx="5715591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8BDF8"/>
                </a:solidFill>
                <a:latin typeface="Inter Bold"/>
                <a:ea typeface="Inter Bold"/>
                <a:cs typeface="Inter Bold"/>
                <a:sym typeface="Inter Bold"/>
              </a:rPr>
              <a:t>Key Applications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19938" y="2405063"/>
            <a:ext cx="5715591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4ADE80"/>
                </a:solidFill>
                <a:latin typeface="Inter Bold"/>
                <a:ea typeface="Inter Bold"/>
                <a:cs typeface="Inter Bold"/>
                <a:sym typeface="Inter Bold"/>
              </a:rPr>
              <a:t>Advantages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20638" y="2405063"/>
            <a:ext cx="556736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87171"/>
                </a:solidFill>
                <a:latin typeface="Inter Bold"/>
                <a:ea typeface="Inter Bold"/>
                <a:cs typeface="Inter Bold"/>
                <a:sym typeface="Inter Bold"/>
              </a:rPr>
              <a:t>Limitations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1600" y="5757862"/>
            <a:ext cx="1223367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Conclusion: DFS is an essential graph algorithm for deep traversal before backtracking.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1588" y="2943225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Maze &amp; Path Exploration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1588" y="3300412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Cycle Detection in Graphs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1588" y="3657600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Connected Components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1588" y="4014788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Topological Sorting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1588" y="4371975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Network Directory Search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72288" y="2943225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Straightforward implementation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72288" y="3300412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Memory-efficient on deep graphs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72288" y="3657600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Ideal for decision trees &amp; puzzles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72988" y="2943225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No shortest path guarantee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72988" y="3300412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Risk of Stack Overflow in deep trees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72988" y="3657600"/>
            <a:ext cx="5679281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Can get trapped in infinite loops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DAHYeQsImsg</dc:identifier>
  <dcterms:modified xsi:type="dcterms:W3CDTF">2011-08-01T06:04:30Z</dcterms:modified>
  <cp:revision>1</cp:revision>
  <dc:title>Depth-First Search (DFS) Presentation.pptx</dc:title>
</cp:coreProperties>
</file>